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A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37E9F8-20BE-7943-BA58-A2869D322507}" type="datetimeFigureOut">
              <a:rPr kumimoji="1" lang="ko-KR" altLang="en-US" smtClean="0"/>
              <a:t>2025. 12. 8.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24CA95-2D34-7647-89C6-5EE1503F5F9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53901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785B8-1EF1-453D-1CA9-D633E64883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EB48B50-355A-F182-403D-86A5F415C7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22B9F5-A213-F8FA-46F8-BFC45E2D4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kumimoji="1" lang="en-US" altLang="ko-KR"/>
              <a:t>2025. 12. 8.</a:t>
            </a:r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80F996-40D4-51A6-4451-AE08D56B1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kumimoji="1" lang="en-US" altLang="ko-KR"/>
              <a:t>YOLO </a:t>
            </a:r>
            <a:r>
              <a:rPr kumimoji="1" lang="ko-KR" altLang="en-US"/>
              <a:t>커스텀 학습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AE1B27-6611-A1F6-5CF4-46B064CA9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BCB23F80-3222-B440-895A-23B9E47480E3}" type="slidenum">
              <a:rPr kumimoji="1" lang="ko-KR" altLang="en-US" smtClean="0"/>
              <a:pPr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13923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E62FE4-B3D0-A146-B174-051AD64AA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0B32E7-8E51-E15C-75F8-142EE6607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66"/>
            <a:ext cx="10515600" cy="486499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CBE7B2-CE00-1CC4-9C94-ECE58B80C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ko-KR"/>
              <a:t>2025. 12. 8.</a:t>
            </a:r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491290-F5BB-882A-4A2E-B65534388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/>
              <a:t>YOLO </a:t>
            </a:r>
            <a:r>
              <a:rPr kumimoji="1" lang="ko-KR" altLang="en-US"/>
              <a:t>커스텀 학습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CE9276-B851-B7B4-B767-72A425B5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23F80-3222-B440-895A-23B9E47480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76794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F8516F-D732-0EA6-E0CC-70F868F3A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2AE190-D7A1-F55C-63B2-C3D8F5734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014A56-475D-A3AF-F2C6-820660B1E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ko-KR"/>
              <a:t>2025. 12. 8.</a:t>
            </a:r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E0022A-D76E-5851-694F-CE622922D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/>
              <a:t>YOLO </a:t>
            </a:r>
            <a:r>
              <a:rPr kumimoji="1" lang="ko-KR" altLang="en-US"/>
              <a:t>커스텀 학습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CFE93B-BD32-A9A4-3444-5A5BA0C08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23F80-3222-B440-895A-23B9E47480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451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7F46AD-BF3F-C598-8DC1-FEB142586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EBD6FC-D859-9B77-E718-91D472CA00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454BCB7-76C3-F40F-46BA-E43FBFC1C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84347FD-6310-3AFD-8DB0-0D500905C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ko-KR"/>
              <a:t>2025. 12. 8.</a:t>
            </a:r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F962A1-0FCF-915D-CBFC-A22542E06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/>
              <a:t>YOLO </a:t>
            </a:r>
            <a:r>
              <a:rPr kumimoji="1" lang="ko-KR" altLang="en-US"/>
              <a:t>커스텀 학습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41D43A-B496-43FF-9443-3D2AD26D2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23F80-3222-B440-895A-23B9E47480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77530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A27EB5-379F-01E3-75FC-E1AC3C78A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090271-C9D8-1590-9941-8E47F82A6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673652F-EDF5-34A9-79E8-324A02A3DE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1669B9-61FF-4FE1-E45A-9E9F0301BD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48C12A5-7037-6BE4-1AC1-3571CAE0F6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9C2904-7560-ADAE-2B1F-6EDB00718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ko-KR"/>
              <a:t>2025. 12. 8.</a:t>
            </a:r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B7E9D22-1A89-3628-756B-F5E8CE832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/>
              <a:t>YOLO </a:t>
            </a:r>
            <a:r>
              <a:rPr kumimoji="1" lang="ko-KR" altLang="en-US"/>
              <a:t>커스텀 학습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335805C-0B23-9D16-3928-41A804B74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23F80-3222-B440-895A-23B9E47480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80042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80937B-D0F3-30C7-3AF1-9D558491A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C4F279C-BA99-3F47-8590-220FDD9CB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ko-KR"/>
              <a:t>2025. 12. 8.</a:t>
            </a:r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984F4B6-80D9-73E4-634B-65A330147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/>
              <a:t>YOLO </a:t>
            </a:r>
            <a:r>
              <a:rPr kumimoji="1" lang="ko-KR" altLang="en-US"/>
              <a:t>커스텀 학습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455313-0337-5810-96D5-7EF1B2DD9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23F80-3222-B440-895A-23B9E47480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08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05CA5F0-EB31-4CEF-068B-A296FB9C6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ko-KR"/>
              <a:t>2025. 12. 8.</a:t>
            </a:r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6D5D62D-7BC6-528C-CD6D-0F8C5C350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/>
              <a:t>YOLO </a:t>
            </a:r>
            <a:r>
              <a:rPr kumimoji="1" lang="ko-KR" altLang="en-US"/>
              <a:t>커스텀 학습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213F24-AC98-0460-FF1F-B992BFFDD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23F80-3222-B440-895A-23B9E47480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03410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D96EC6-EFAE-CE30-A707-B34888095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D8C7E8-0059-E3A4-CC5D-371C3FFD2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D0F46B-A9D2-CCED-E22E-62F670519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DD4DAC-114E-BC21-933D-680B0A924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ko-KR"/>
              <a:t>2025. 12. 8.</a:t>
            </a:r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FC9E0F-2283-4BEB-87DC-3176DD967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/>
              <a:t>YOLO </a:t>
            </a:r>
            <a:r>
              <a:rPr kumimoji="1" lang="ko-KR" altLang="en-US"/>
              <a:t>커스텀 학습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F30CB3-2F19-877C-A4B5-6A35AAE6C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23F80-3222-B440-895A-23B9E47480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93242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9808B1-1E12-7A3D-987D-DDA488A40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F99DEBF-FDDC-8478-C0E6-2EB78983F9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5BD0FB0-A563-FBA3-9F5B-96E0DC52C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2BA3FB-E8E6-9999-EF48-B8AEBDE43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ko-KR"/>
              <a:t>2025. 12. 8.</a:t>
            </a:r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C27F16-6094-8686-5EE5-EA6177AE0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/>
              <a:t>YOLO </a:t>
            </a:r>
            <a:r>
              <a:rPr kumimoji="1" lang="ko-KR" altLang="en-US"/>
              <a:t>커스텀 학습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B225D2-0AED-CE71-C2DD-6127CABB5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23F80-3222-B440-895A-23B9E47480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42546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44D7C9-352A-5D05-F6D4-972D05248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3CB2F7-794C-7402-7520-6749F16D1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1A2AE1-A2AB-017D-1516-910BCF934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ko-KR"/>
              <a:t>2025. 12. 8.</a:t>
            </a:r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D91CDC-6143-944D-638C-E7048175D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/>
              <a:t>YOLO </a:t>
            </a:r>
            <a:r>
              <a:rPr kumimoji="1" lang="ko-KR" altLang="en-US"/>
              <a:t>커스텀 학습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08F2CF-FAEB-4D6A-2A63-1CA888BFA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23F80-3222-B440-895A-23B9E47480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90712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136525F-9424-B898-83BE-BD55459FAE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E96527-C35D-DD25-33FD-A995A6397A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EC2AA7-4F52-BFE8-FB15-69C3E44F2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ko-KR"/>
              <a:t>2025. 12. 8.</a:t>
            </a:r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C773A2-57F4-E7DB-FDCF-F8341D1F0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/>
              <a:t>YOLO </a:t>
            </a:r>
            <a:r>
              <a:rPr kumimoji="1" lang="ko-KR" altLang="en-US"/>
              <a:t>커스텀 학습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32B351-7EFE-A7F8-30CB-6BF70B243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23F80-3222-B440-895A-23B9E47480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39701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2417EB0-E8AC-A8DE-F47C-A795F620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79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BE68B3-78AA-D300-5CDD-5560D5582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A7FA9-C83D-8688-5887-B29F39A12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1">
                    <a:tint val="82000"/>
                  </a:schemeClr>
                </a:solidFill>
                <a:latin typeface="Dotum" panose="020B0600000101010101" pitchFamily="34" charset="-127"/>
                <a:ea typeface="Dotum" panose="020B0600000101010101" pitchFamily="34" charset="-127"/>
              </a:defRPr>
            </a:lvl1pPr>
          </a:lstStyle>
          <a:p>
            <a:r>
              <a:rPr kumimoji="1" lang="en-US" altLang="ko-KR"/>
              <a:t>2025. 12. 8.</a:t>
            </a:r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DAC28A-E34B-18D1-89C5-D6C86B6DA6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tint val="82000"/>
                  </a:schemeClr>
                </a:solidFill>
                <a:latin typeface="Dotum" panose="020B0600000101010101" pitchFamily="34" charset="-127"/>
                <a:ea typeface="Dotum" panose="020B0600000101010101" pitchFamily="34" charset="-127"/>
              </a:defRPr>
            </a:lvl1pPr>
          </a:lstStyle>
          <a:p>
            <a:r>
              <a:rPr kumimoji="1" lang="en-US" altLang="ko-KR"/>
              <a:t>YOLO </a:t>
            </a:r>
            <a:r>
              <a:rPr kumimoji="1" lang="ko-KR" altLang="en-US"/>
              <a:t>커스텀 학습</a:t>
            </a:r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15803E-1A60-340D-24A9-6CB9641D4B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82000"/>
                  </a:schemeClr>
                </a:solidFill>
                <a:latin typeface="Dotum" panose="020B0600000101010101" pitchFamily="34" charset="-127"/>
                <a:ea typeface="Dotum" panose="020B0600000101010101" pitchFamily="34" charset="-127"/>
              </a:defRPr>
            </a:lvl1pPr>
          </a:lstStyle>
          <a:p>
            <a:fld id="{BCB23F80-3222-B440-895A-23B9E47480E3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4443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Dotum" panose="020B0600000101010101" pitchFamily="34" charset="-127"/>
          <a:ea typeface="Dotum" panose="020B0600000101010101" pitchFamily="34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Dotum" panose="020B0600000101010101" pitchFamily="34" charset="-127"/>
          <a:ea typeface="Dotum" panose="020B0600000101010101" pitchFamily="34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Dotum" panose="020B0600000101010101" pitchFamily="34" charset="-127"/>
          <a:ea typeface="Dotum" panose="020B0600000101010101" pitchFamily="34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Dotum" panose="020B0600000101010101" pitchFamily="34" charset="-127"/>
          <a:ea typeface="Dotum" panose="020B0600000101010101" pitchFamily="34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Dotum" panose="020B0600000101010101" pitchFamily="34" charset="-127"/>
          <a:ea typeface="Dotum" panose="020B0600000101010101" pitchFamily="34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Dotum" panose="020B0600000101010101" pitchFamily="34" charset="-127"/>
          <a:ea typeface="Dotum" panose="020B0600000101010101" pitchFamily="34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C37A0E-BE7D-5A00-F29E-840107D2B5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b="1" dirty="0"/>
              <a:t>YOLOv11</a:t>
            </a:r>
            <a:br>
              <a:rPr kumimoji="1" lang="en-US" altLang="ko-KR" b="1" dirty="0"/>
            </a:br>
            <a:r>
              <a:rPr kumimoji="1" lang="ko-KR" altLang="en-US" b="1" dirty="0"/>
              <a:t>커스텀 데이터 학습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04A78D6-D2C3-CEE3-D0A1-15D60FE9E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93020"/>
            <a:ext cx="9144000" cy="1271752"/>
          </a:xfrm>
        </p:spPr>
        <p:txBody>
          <a:bodyPr/>
          <a:lstStyle/>
          <a:p>
            <a:r>
              <a:rPr kumimoji="1" lang="en-US" altLang="ko-KR" dirty="0"/>
              <a:t>2025</a:t>
            </a:r>
            <a:r>
              <a:rPr kumimoji="1" lang="ko-KR" altLang="en-US" dirty="0"/>
              <a:t>년 </a:t>
            </a:r>
            <a:r>
              <a:rPr kumimoji="1" lang="en-US" altLang="ko-KR" dirty="0"/>
              <a:t>12</a:t>
            </a:r>
            <a:r>
              <a:rPr kumimoji="1" lang="ko-KR" altLang="en-US" dirty="0"/>
              <a:t>월 </a:t>
            </a:r>
            <a:r>
              <a:rPr kumimoji="1" lang="en-US" altLang="ko-KR" dirty="0"/>
              <a:t>8</a:t>
            </a:r>
            <a:r>
              <a:rPr kumimoji="1" lang="ko-KR" altLang="en-US" dirty="0"/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4092699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7BE831-3695-1956-01E7-881B035D4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Data Labeling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D1B1E2-6080-6226-ECDE-6059E45BD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66"/>
            <a:ext cx="10515600" cy="5044384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2400" dirty="0"/>
              <a:t>Label Studio </a:t>
            </a:r>
            <a:r>
              <a:rPr kumimoji="1" lang="ko-KR" altLang="en-US" sz="2400" dirty="0"/>
              <a:t>이용</a:t>
            </a:r>
            <a:endParaRPr kumimoji="1" lang="en-US" altLang="ko-KR" sz="2400" dirty="0"/>
          </a:p>
          <a:p>
            <a:pPr>
              <a:lnSpc>
                <a:spcPct val="120000"/>
              </a:lnSpc>
            </a:pPr>
            <a:endParaRPr kumimoji="1" lang="en-US" altLang="ko-KR" sz="2400" dirty="0"/>
          </a:p>
          <a:p>
            <a:pPr>
              <a:lnSpc>
                <a:spcPct val="120000"/>
              </a:lnSpc>
            </a:pPr>
            <a:endParaRPr kumimoji="1" lang="en-US" altLang="ko-KR" sz="2400" dirty="0"/>
          </a:p>
          <a:p>
            <a:pPr>
              <a:lnSpc>
                <a:spcPct val="120000"/>
              </a:lnSpc>
            </a:pPr>
            <a:endParaRPr kumimoji="1" lang="en-US" altLang="ko-KR" sz="2400" dirty="0"/>
          </a:p>
          <a:p>
            <a:pPr>
              <a:lnSpc>
                <a:spcPct val="120000"/>
              </a:lnSpc>
            </a:pPr>
            <a:r>
              <a:rPr kumimoji="1" lang="en-US" altLang="ko-KR" sz="2400" dirty="0"/>
              <a:t>Create Project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en-US" altLang="ko-KR" sz="2400" dirty="0"/>
              <a:t>-</a:t>
            </a:r>
            <a:r>
              <a:rPr kumimoji="1" lang="ko-KR" altLang="en-US" sz="2400" dirty="0"/>
              <a:t> 이미지 업로드</a:t>
            </a:r>
            <a:r>
              <a:rPr kumimoji="1" lang="en-US" altLang="ko-KR" sz="2400" dirty="0"/>
              <a:t>:</a:t>
            </a:r>
            <a:r>
              <a:rPr kumimoji="1" lang="ko-KR" altLang="en-US" sz="2400" dirty="0"/>
              <a:t> </a:t>
            </a:r>
            <a:r>
              <a:rPr kumimoji="1" lang="en-US" altLang="ko-KR" sz="2400" dirty="0"/>
              <a:t>Data Import &gt; Upload Files</a:t>
            </a:r>
          </a:p>
          <a:p>
            <a:pPr>
              <a:lnSpc>
                <a:spcPct val="120000"/>
              </a:lnSpc>
              <a:buFontTx/>
              <a:buChar char="-"/>
            </a:pPr>
            <a:r>
              <a:rPr kumimoji="1" lang="ko-KR" altLang="en-US" sz="2400" dirty="0"/>
              <a:t> 라벨 설정</a:t>
            </a:r>
            <a:r>
              <a:rPr kumimoji="1" lang="en-US" altLang="ko-KR" sz="2400" dirty="0"/>
              <a:t>:</a:t>
            </a:r>
            <a:r>
              <a:rPr kumimoji="1" lang="ko-KR" altLang="en-US" sz="2400" dirty="0"/>
              <a:t> </a:t>
            </a:r>
            <a:r>
              <a:rPr kumimoji="1" lang="en-US" altLang="ko-KR" sz="2400" dirty="0"/>
              <a:t>Labeling Setup &gt; Computer Vision</a:t>
            </a:r>
          </a:p>
          <a:p>
            <a:pPr>
              <a:lnSpc>
                <a:spcPct val="120000"/>
              </a:lnSpc>
              <a:buFont typeface="Wingdings" pitchFamily="2" charset="2"/>
              <a:buChar char="è"/>
            </a:pPr>
            <a:r>
              <a:rPr kumimoji="1" lang="ko-KR" altLang="en-US" sz="2400" dirty="0"/>
              <a:t> </a:t>
            </a:r>
            <a:r>
              <a:rPr kumimoji="1" lang="en-US" altLang="ko-KR" sz="2400" dirty="0"/>
              <a:t>Object Detection with Bounding Boxes </a:t>
            </a:r>
            <a:r>
              <a:rPr kumimoji="1" lang="ko-KR" altLang="en-US" sz="2400" dirty="0"/>
              <a:t>선택</a:t>
            </a:r>
            <a:endParaRPr kumimoji="1" lang="en-US" altLang="ko-KR" sz="2400" dirty="0"/>
          </a:p>
          <a:p>
            <a:pPr>
              <a:lnSpc>
                <a:spcPct val="120000"/>
              </a:lnSpc>
              <a:buFontTx/>
              <a:buChar char="-"/>
            </a:pPr>
            <a:r>
              <a:rPr kumimoji="1" lang="en-US" altLang="ko-KR" sz="2400" dirty="0"/>
              <a:t> </a:t>
            </a:r>
            <a:r>
              <a:rPr kumimoji="1" lang="ko-KR" altLang="en-US" sz="2400" dirty="0"/>
              <a:t>라벨 종류 지정</a:t>
            </a:r>
            <a:r>
              <a:rPr kumimoji="1" lang="en-US" altLang="ko-KR" sz="2400" dirty="0"/>
              <a:t>: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ko-KR" altLang="en-US" sz="2400" dirty="0"/>
              <a:t>    </a:t>
            </a:r>
            <a:r>
              <a:rPr kumimoji="1" lang="en-US" altLang="ko-KR" sz="2400" dirty="0"/>
              <a:t>Labeling Interface</a:t>
            </a:r>
          </a:p>
          <a:p>
            <a:pPr>
              <a:lnSpc>
                <a:spcPct val="120000"/>
              </a:lnSpc>
              <a:buFont typeface="Wingdings" pitchFamily="2" charset="2"/>
              <a:buChar char="è"/>
            </a:pPr>
            <a:r>
              <a:rPr kumimoji="1" lang="ko-KR" altLang="en-US" sz="2400" dirty="0"/>
              <a:t> </a:t>
            </a:r>
            <a:r>
              <a:rPr kumimoji="1" lang="en-US" altLang="ko-KR" sz="2400" dirty="0"/>
              <a:t>Add label names</a:t>
            </a:r>
          </a:p>
          <a:p>
            <a:pPr marL="0" indent="0">
              <a:lnSpc>
                <a:spcPct val="120000"/>
              </a:lnSpc>
              <a:buNone/>
            </a:pPr>
            <a:endParaRPr kumimoji="1" lang="en-US" altLang="ko-KR" sz="2400" dirty="0"/>
          </a:p>
          <a:p>
            <a:pPr>
              <a:lnSpc>
                <a:spcPct val="120000"/>
              </a:lnSpc>
            </a:pPr>
            <a:endParaRPr kumimoji="1"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E388EB-1231-7402-DD71-FA4070837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ko-KR" dirty="0"/>
              <a:t>2025. 12. 8.</a:t>
            </a:r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A37195-F74A-F086-4FB5-70B5CB1B6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/>
              <a:t>YOLO </a:t>
            </a:r>
            <a:r>
              <a:rPr kumimoji="1" lang="ko-KR" altLang="en-US"/>
              <a:t>커스텀 학습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FF08DB-52B9-1E19-3D45-94C4A1C84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23F80-3222-B440-895A-23B9E47480E3}" type="slidenum">
              <a:rPr kumimoji="1" lang="ko-KR" altLang="en-US" smtClean="0"/>
              <a:t>2</a:t>
            </a:fld>
            <a:endParaRPr kumimoji="1" lang="ko-KR" altLang="en-US" dirty="0"/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40E2C08F-B22F-4836-604A-43C41D647560}"/>
              </a:ext>
            </a:extLst>
          </p:cNvPr>
          <p:cNvSpPr/>
          <p:nvPr/>
        </p:nvSpPr>
        <p:spPr>
          <a:xfrm>
            <a:off x="1175808" y="1732129"/>
            <a:ext cx="4920192" cy="1167941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0" tIns="46800" rIns="360000" bIns="46800" rtlCol="0" anchor="ctr"/>
          <a:lstStyle/>
          <a:p>
            <a:r>
              <a:rPr lang="ko-KR" altLang="en-US" dirty="0">
                <a:solidFill>
                  <a:schemeClr val="bg1"/>
                </a:solidFill>
                <a:latin typeface="Courier" pitchFamily="2" charset="0"/>
              </a:rPr>
              <a:t>pip </a:t>
            </a:r>
            <a:r>
              <a:rPr lang="ko-KR" altLang="en-US" dirty="0">
                <a:solidFill>
                  <a:srgbClr val="EBEA99"/>
                </a:solidFill>
                <a:latin typeface="Courier" pitchFamily="2" charset="0"/>
              </a:rPr>
              <a:t>install</a:t>
            </a:r>
            <a:r>
              <a:rPr lang="ko-KR" altLang="en-US" dirty="0">
                <a:solidFill>
                  <a:schemeClr val="bg1"/>
                </a:solidFill>
                <a:latin typeface="Courier" pitchFamily="2" charset="0"/>
              </a:rPr>
              <a:t> label-studio</a:t>
            </a:r>
          </a:p>
          <a:p>
            <a:r>
              <a:rPr lang="ko-KR" altLang="en-US" dirty="0">
                <a:solidFill>
                  <a:schemeClr val="bg1"/>
                </a:solidFill>
                <a:latin typeface="Courier" pitchFamily="2" charset="0"/>
              </a:rPr>
              <a:t>label-studio</a:t>
            </a:r>
            <a:r>
              <a:rPr lang="en-US" altLang="ko-KR" dirty="0">
                <a:solidFill>
                  <a:schemeClr val="bg1"/>
                </a:solidFill>
                <a:latin typeface="Courier" pitchFamily="2" charset="0"/>
              </a:rPr>
              <a:t>		</a:t>
            </a:r>
            <a:r>
              <a:rPr lang="ko-KR" alt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# 실행</a:t>
            </a:r>
            <a:endParaRPr lang="ko-KR" altLang="en-US" dirty="0">
              <a:solidFill>
                <a:schemeClr val="accent2">
                  <a:lumMod val="60000"/>
                  <a:lumOff val="4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B2B2C02-9862-F939-69C4-0CFE1A4C36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2"/>
          <a:stretch/>
        </p:blipFill>
        <p:spPr>
          <a:xfrm>
            <a:off x="8189030" y="1676818"/>
            <a:ext cx="3621970" cy="290700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0533D26-81A6-57BE-1942-E3C692E84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924" y="4837465"/>
            <a:ext cx="7103076" cy="141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209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512A52-C5CE-3CBF-9395-C1084ABA9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Data Labeling</a:t>
            </a:r>
            <a:endParaRPr kumimoji="1" lang="ko-KR" altLang="en-US" dirty="0"/>
          </a:p>
        </p:txBody>
      </p:sp>
      <p:pic>
        <p:nvPicPr>
          <p:cNvPr id="8" name="내용 개체 틀 7" descr="스크린샷, 멀티미디어 소프트웨어, 편집이(가) 표시된 사진&#10;&#10;자동 생성된 설명">
            <a:extLst>
              <a:ext uri="{FF2B5EF4-FFF2-40B4-BE49-F238E27FC236}">
                <a16:creationId xmlns:a16="http://schemas.microsoft.com/office/drawing/2014/main" id="{EC1C5122-97E6-52F2-65BA-FCF5826984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0465" y="1241854"/>
            <a:ext cx="8410059" cy="5049430"/>
          </a:xfr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96A156-CE9B-8656-16A6-9E8804F59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ko-KR"/>
              <a:t>2025. 12. 8.</a:t>
            </a:r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3AE443-0714-6004-2705-419A2F437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/>
              <a:t>YOLO </a:t>
            </a:r>
            <a:r>
              <a:rPr kumimoji="1" lang="ko-KR" altLang="en-US"/>
              <a:t>커스텀 학습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58B6A0-7602-BDC2-D922-6DC4D7D06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23F80-3222-B440-895A-23B9E47480E3}" type="slidenum">
              <a:rPr kumimoji="1" lang="ko-KR" altLang="en-US" smtClean="0"/>
              <a:t>3</a:t>
            </a:fld>
            <a:endParaRPr kumimoji="1"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31BCA10-5D00-B831-32CC-3D46AD7F3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183" y="5082059"/>
            <a:ext cx="1130300" cy="660400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sp>
        <p:nvSpPr>
          <p:cNvPr id="10" name="타원 9">
            <a:extLst>
              <a:ext uri="{FF2B5EF4-FFF2-40B4-BE49-F238E27FC236}">
                <a16:creationId xmlns:a16="http://schemas.microsoft.com/office/drawing/2014/main" id="{2DD474B7-E06C-AC92-1A73-E7B8562F0BF2}"/>
              </a:ext>
            </a:extLst>
          </p:cNvPr>
          <p:cNvSpPr/>
          <p:nvPr/>
        </p:nvSpPr>
        <p:spPr>
          <a:xfrm>
            <a:off x="4633784" y="5412259"/>
            <a:ext cx="704335" cy="407773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9FC30E1-1B52-205A-C4AF-9380BA173CF1}"/>
              </a:ext>
            </a:extLst>
          </p:cNvPr>
          <p:cNvCxnSpPr>
            <a:stCxn id="10" idx="2"/>
            <a:endCxn id="9" idx="3"/>
          </p:cNvCxnSpPr>
          <p:nvPr/>
        </p:nvCxnSpPr>
        <p:spPr>
          <a:xfrm flipH="1" flipV="1">
            <a:off x="2689483" y="5412259"/>
            <a:ext cx="1944301" cy="20388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31F8C48-DEC3-B7CB-8065-576E02303E4A}"/>
              </a:ext>
            </a:extLst>
          </p:cNvPr>
          <p:cNvSpPr txBox="1"/>
          <p:nvPr/>
        </p:nvSpPr>
        <p:spPr>
          <a:xfrm>
            <a:off x="502474" y="4568018"/>
            <a:ext cx="26725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dirty="0">
                <a:latin typeface="Dotum" panose="020B0600000101010101" pitchFamily="34" charset="-127"/>
                <a:ea typeface="Dotum" panose="020B0600000101010101" pitchFamily="34" charset="-127"/>
              </a:rPr>
              <a:t>1. </a:t>
            </a:r>
            <a:r>
              <a:rPr kumimoji="1" lang="ko-KR" altLang="en-US" sz="2000" dirty="0">
                <a:latin typeface="Dotum" panose="020B0600000101010101" pitchFamily="34" charset="-127"/>
                <a:ea typeface="Dotum" panose="020B0600000101010101" pitchFamily="34" charset="-127"/>
              </a:rPr>
              <a:t>라벨 선택 </a:t>
            </a:r>
            <a:r>
              <a:rPr kumimoji="1" lang="en-US" altLang="ko-KR" sz="2000" dirty="0">
                <a:latin typeface="Dotum" panose="020B0600000101010101" pitchFamily="34" charset="-127"/>
                <a:ea typeface="Dotum" panose="020B0600000101010101" pitchFamily="34" charset="-127"/>
              </a:rPr>
              <a:t>(</a:t>
            </a:r>
            <a:r>
              <a:rPr kumimoji="1" lang="ko-KR" altLang="en-US" sz="2000" dirty="0">
                <a:latin typeface="Dotum" panose="020B0600000101010101" pitchFamily="34" charset="-127"/>
                <a:ea typeface="Dotum" panose="020B0600000101010101" pitchFamily="34" charset="-127"/>
              </a:rPr>
              <a:t>활성화</a:t>
            </a:r>
            <a:r>
              <a:rPr kumimoji="1" lang="en-US" altLang="ko-KR" sz="2000" dirty="0">
                <a:latin typeface="Dotum" panose="020B0600000101010101" pitchFamily="34" charset="-127"/>
                <a:ea typeface="Dotum" panose="020B0600000101010101" pitchFamily="34" charset="-127"/>
              </a:rPr>
              <a:t>)</a:t>
            </a:r>
            <a:endParaRPr kumimoji="1" lang="ko-KR" altLang="en-US" sz="2000" dirty="0">
              <a:latin typeface="Dotum" panose="020B0600000101010101" pitchFamily="34" charset="-127"/>
              <a:ea typeface="Dotum" panose="020B0600000101010101" pitchFamily="34" charset="-127"/>
            </a:endParaRPr>
          </a:p>
        </p:txBody>
      </p:sp>
      <p:pic>
        <p:nvPicPr>
          <p:cNvPr id="15" name="그림 14" descr="스크린샷, 다채로움, 구체, 빛이(가) 표시된 사진&#10;&#10;자동 생성된 설명">
            <a:extLst>
              <a:ext uri="{FF2B5EF4-FFF2-40B4-BE49-F238E27FC236}">
                <a16:creationId xmlns:a16="http://schemas.microsoft.com/office/drawing/2014/main" id="{6C5708C8-0FCF-CEA4-0D0E-E3478B538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921" y="1324816"/>
            <a:ext cx="1930400" cy="1803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9368649-5DE8-39D8-23B8-09449DAF931B}"/>
              </a:ext>
            </a:extLst>
          </p:cNvPr>
          <p:cNvSpPr txBox="1"/>
          <p:nvPr/>
        </p:nvSpPr>
        <p:spPr>
          <a:xfrm>
            <a:off x="-38099" y="3246241"/>
            <a:ext cx="35212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000" dirty="0">
                <a:latin typeface="Dotum" panose="020B0600000101010101" pitchFamily="34" charset="-127"/>
                <a:ea typeface="Dotum" panose="020B0600000101010101" pitchFamily="34" charset="-127"/>
              </a:rPr>
              <a:t>2.</a:t>
            </a:r>
            <a:r>
              <a:rPr kumimoji="1" lang="ko-KR" altLang="en-US" sz="2000" dirty="0">
                <a:latin typeface="Dotum" panose="020B0600000101010101" pitchFamily="34" charset="-127"/>
                <a:ea typeface="Dotum" panose="020B0600000101010101" pitchFamily="34" charset="-127"/>
              </a:rPr>
              <a:t> 마우스로 드래그해 </a:t>
            </a:r>
            <a:r>
              <a:rPr kumimoji="1" lang="en-US" altLang="ko-KR" sz="2000" dirty="0">
                <a:latin typeface="Dotum" panose="020B0600000101010101" pitchFamily="34" charset="-127"/>
                <a:ea typeface="Dotum" panose="020B0600000101010101" pitchFamily="34" charset="-127"/>
              </a:rPr>
              <a:t>Bounding Box </a:t>
            </a:r>
            <a:r>
              <a:rPr kumimoji="1" lang="ko-KR" altLang="en-US" sz="2000" dirty="0">
                <a:latin typeface="Dotum" panose="020B0600000101010101" pitchFamily="34" charset="-127"/>
                <a:ea typeface="Dotum" panose="020B0600000101010101" pitchFamily="34" charset="-127"/>
              </a:rPr>
              <a:t>생성 및 회전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9028C3D0-74C4-2730-6B80-EAA4FA8C9778}"/>
              </a:ext>
            </a:extLst>
          </p:cNvPr>
          <p:cNvSpPr/>
          <p:nvPr/>
        </p:nvSpPr>
        <p:spPr>
          <a:xfrm>
            <a:off x="10799805" y="5895868"/>
            <a:ext cx="1161536" cy="536318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927AEA-2E1C-B010-3772-5A959E181462}"/>
              </a:ext>
            </a:extLst>
          </p:cNvPr>
          <p:cNvSpPr txBox="1"/>
          <p:nvPr/>
        </p:nvSpPr>
        <p:spPr>
          <a:xfrm>
            <a:off x="5711866" y="5695813"/>
            <a:ext cx="4883068" cy="400110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ko-KR" sz="2000" dirty="0">
                <a:solidFill>
                  <a:schemeClr val="bg1"/>
                </a:solidFill>
                <a:latin typeface="Dotum" panose="020B0600000101010101" pitchFamily="34" charset="-127"/>
                <a:ea typeface="Dotum" panose="020B0600000101010101" pitchFamily="34" charset="-127"/>
              </a:rPr>
              <a:t>3. </a:t>
            </a:r>
            <a:r>
              <a:rPr kumimoji="1" lang="ko-KR" altLang="en-US" sz="2000" dirty="0">
                <a:solidFill>
                  <a:schemeClr val="bg1"/>
                </a:solidFill>
                <a:latin typeface="Dotum" panose="020B0600000101010101" pitchFamily="34" charset="-127"/>
                <a:ea typeface="Dotum" panose="020B0600000101010101" pitchFamily="34" charset="-127"/>
              </a:rPr>
              <a:t>업데이트 후 다음 이미지로 이동</a:t>
            </a:r>
            <a:r>
              <a:rPr kumimoji="1" lang="en-US" altLang="ko-KR" sz="2000" dirty="0">
                <a:solidFill>
                  <a:schemeClr val="bg1"/>
                </a:solidFill>
                <a:latin typeface="Dotum" panose="020B0600000101010101" pitchFamily="34" charset="-127"/>
                <a:ea typeface="Dotum" panose="020B0600000101010101" pitchFamily="34" charset="-127"/>
              </a:rPr>
              <a:t>,</a:t>
            </a:r>
            <a:r>
              <a:rPr kumimoji="1" lang="ko-KR" altLang="en-US" sz="2000" dirty="0">
                <a:solidFill>
                  <a:schemeClr val="bg1"/>
                </a:solidFill>
                <a:latin typeface="Dotum" panose="020B0600000101010101" pitchFamily="34" charset="-127"/>
                <a:ea typeface="Dotum" panose="020B0600000101010101" pitchFamily="34" charset="-127"/>
              </a:rPr>
              <a:t> 반복</a:t>
            </a:r>
          </a:p>
        </p:txBody>
      </p:sp>
    </p:spTree>
    <p:extLst>
      <p:ext uri="{BB962C8B-B14F-4D97-AF65-F5344CB8AC3E}">
        <p14:creationId xmlns:p14="http://schemas.microsoft.com/office/powerpoint/2010/main" val="2677866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6B5477-CA22-5555-31AC-8EE42EDA5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Dataset </a:t>
            </a:r>
            <a:r>
              <a:rPr kumimoji="1" lang="ko-KR" altLang="en-US" dirty="0"/>
              <a:t>준비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B0F749-8D94-16FD-D40D-A9E636B75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kumimoji="1" lang="en-US" altLang="ko-KR" sz="2400" dirty="0"/>
              <a:t>Data export</a:t>
            </a:r>
          </a:p>
          <a:p>
            <a:pPr marL="0" indent="0">
              <a:lnSpc>
                <a:spcPct val="100000"/>
              </a:lnSpc>
              <a:buNone/>
            </a:pPr>
            <a:r>
              <a:rPr kumimoji="1" lang="en-US" altLang="ko-KR" sz="2400" dirty="0"/>
              <a:t>Export &gt; Export Data</a:t>
            </a:r>
          </a:p>
          <a:p>
            <a:pPr>
              <a:lnSpc>
                <a:spcPct val="100000"/>
              </a:lnSpc>
              <a:buFont typeface="Wingdings" pitchFamily="2" charset="2"/>
              <a:buChar char="è"/>
            </a:pPr>
            <a:r>
              <a:rPr kumimoji="1" lang="ko-KR" altLang="en-US" sz="2400" dirty="0"/>
              <a:t> </a:t>
            </a:r>
            <a:r>
              <a:rPr kumimoji="1" lang="en-US" altLang="ko-KR" sz="2400" dirty="0"/>
              <a:t>YOLOv8 OBB with Images</a:t>
            </a:r>
          </a:p>
          <a:p>
            <a:pPr>
              <a:lnSpc>
                <a:spcPct val="100000"/>
              </a:lnSpc>
              <a:buFont typeface="Wingdings" pitchFamily="2" charset="2"/>
              <a:buChar char="è"/>
            </a:pPr>
            <a:endParaRPr kumimoji="1" lang="en-US" altLang="ko-KR" sz="2400" dirty="0"/>
          </a:p>
          <a:p>
            <a:pPr>
              <a:lnSpc>
                <a:spcPct val="100000"/>
              </a:lnSpc>
            </a:pPr>
            <a:r>
              <a:rPr kumimoji="1" lang="en-US" altLang="ko-KR" sz="2400" dirty="0"/>
              <a:t>Label txt </a:t>
            </a:r>
            <a:r>
              <a:rPr kumimoji="1" lang="ko-KR" altLang="en-US" sz="2400" dirty="0"/>
              <a:t>파일에</a:t>
            </a:r>
            <a:br>
              <a:rPr kumimoji="1" lang="en-US" altLang="ko-KR" sz="2400" dirty="0"/>
            </a:br>
            <a:r>
              <a:rPr kumimoji="1" lang="en-US" altLang="ko-KR" sz="2400" dirty="0"/>
              <a:t>1</a:t>
            </a:r>
            <a:r>
              <a:rPr kumimoji="1" lang="ko-KR" altLang="en-US" sz="2400" dirty="0"/>
              <a:t>줄에 숫자 </a:t>
            </a:r>
            <a:r>
              <a:rPr kumimoji="1" lang="en-US" altLang="ko-KR" sz="2400" dirty="0"/>
              <a:t>9</a:t>
            </a:r>
            <a:r>
              <a:rPr kumimoji="1" lang="ko-KR" altLang="en-US" sz="2400" dirty="0"/>
              <a:t>개 있는지 확인</a:t>
            </a:r>
            <a:br>
              <a:rPr kumimoji="1" lang="en-US" altLang="ko-KR" sz="2400" dirty="0"/>
            </a:br>
            <a:r>
              <a:rPr kumimoji="1" lang="en-US" altLang="ko-KR" sz="2400" dirty="0"/>
              <a:t>(</a:t>
            </a:r>
            <a:r>
              <a:rPr kumimoji="1" lang="ko-KR" altLang="en-US" sz="2400" dirty="0"/>
              <a:t>회전 정보 있는지</a:t>
            </a:r>
            <a:r>
              <a:rPr kumimoji="1" lang="en-US" altLang="ko-KR" sz="2400" dirty="0"/>
              <a:t>)</a:t>
            </a: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604FD2-7B4C-3A4E-2592-F1B4C0DBB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ko-KR"/>
              <a:t>2025. 12. 8.</a:t>
            </a:r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010F1B-864C-2360-B79F-67C5539DD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/>
              <a:t>YOLO </a:t>
            </a:r>
            <a:r>
              <a:rPr kumimoji="1" lang="ko-KR" altLang="en-US"/>
              <a:t>커스텀 학습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7EFFBD-60F2-C0C2-26A6-7F68E4A6E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23F80-3222-B440-895A-23B9E47480E3}" type="slidenum">
              <a:rPr kumimoji="1" lang="ko-KR" altLang="en-US" smtClean="0"/>
              <a:t>4</a:t>
            </a:fld>
            <a:endParaRPr kumimoji="1"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C1B9310-ACD7-D980-F6A8-8EA969910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145" y="255740"/>
            <a:ext cx="5626290" cy="601091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7270907-E1D8-4170-B136-C172B479F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614" y="4565384"/>
            <a:ext cx="9193273" cy="89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318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3C8663-47DC-6916-F1E6-0F56B0649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Dataset </a:t>
            </a:r>
            <a:r>
              <a:rPr kumimoji="1" lang="ko-KR" altLang="en-US" dirty="0"/>
              <a:t>준비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A6C242-A44B-D4E1-A109-84320A649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5324"/>
            <a:ext cx="10515600" cy="483164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sz="2400" dirty="0"/>
              <a:t>train, val, test</a:t>
            </a:r>
            <a:r>
              <a:rPr kumimoji="1" lang="ko-KR" altLang="en-US" sz="2400" dirty="0"/>
              <a:t> </a:t>
            </a:r>
            <a:r>
              <a:rPr kumimoji="1" lang="en-US" altLang="ko-KR" sz="2400" dirty="0"/>
              <a:t>set </a:t>
            </a:r>
            <a:r>
              <a:rPr kumimoji="1" lang="ko-KR" altLang="en-US" sz="2400" dirty="0"/>
              <a:t>나누기</a:t>
            </a:r>
            <a:endParaRPr kumimoji="1" lang="en-US" altLang="ko-KR" sz="2400" dirty="0"/>
          </a:p>
          <a:p>
            <a:pPr>
              <a:lnSpc>
                <a:spcPct val="100000"/>
              </a:lnSpc>
            </a:pPr>
            <a:r>
              <a:rPr kumimoji="1" lang="ko-KR" altLang="en-US" sz="2400" dirty="0"/>
              <a:t>각 폴더에 </a:t>
            </a:r>
            <a:r>
              <a:rPr kumimoji="1" lang="en-US" altLang="ko-KR" sz="2400" dirty="0"/>
              <a:t>images, labels </a:t>
            </a:r>
            <a:r>
              <a:rPr kumimoji="1" lang="ko-KR" altLang="en-US" sz="2400" dirty="0"/>
              <a:t>폴더 두기</a:t>
            </a:r>
            <a:endParaRPr kumimoji="1" lang="en-US" altLang="ko-KR" sz="2400" dirty="0"/>
          </a:p>
          <a:p>
            <a:pPr lvl="1">
              <a:lnSpc>
                <a:spcPct val="100000"/>
              </a:lnSpc>
            </a:pPr>
            <a:r>
              <a:rPr kumimoji="1" lang="ko-KR" altLang="en-US" sz="2000" dirty="0"/>
              <a:t>각 </a:t>
            </a:r>
            <a:r>
              <a:rPr kumimoji="1" lang="en-US" altLang="ko-KR" sz="2000" dirty="0"/>
              <a:t>Image</a:t>
            </a:r>
            <a:r>
              <a:rPr kumimoji="1" lang="ko-KR" altLang="en-US" sz="2000" dirty="0"/>
              <a:t>와 </a:t>
            </a:r>
            <a:r>
              <a:rPr kumimoji="1" lang="en-US" altLang="ko-KR" sz="2000" dirty="0"/>
              <a:t>label</a:t>
            </a:r>
            <a:r>
              <a:rPr kumimoji="1" lang="ko-KR" altLang="en-US" sz="2000" dirty="0"/>
              <a:t> 파일명이 같아야 함</a:t>
            </a:r>
            <a:r>
              <a:rPr kumimoji="1" lang="en-US" altLang="ko-KR" sz="2000" dirty="0"/>
              <a:t>.</a:t>
            </a:r>
          </a:p>
          <a:p>
            <a:pPr lvl="1">
              <a:lnSpc>
                <a:spcPct val="100000"/>
              </a:lnSpc>
            </a:pPr>
            <a:endParaRPr kumimoji="1" lang="en-US" altLang="ko-KR" sz="2000" dirty="0"/>
          </a:p>
          <a:p>
            <a:pPr>
              <a:lnSpc>
                <a:spcPct val="100000"/>
              </a:lnSpc>
            </a:pPr>
            <a:r>
              <a:rPr kumimoji="1" lang="en-US" altLang="ko-KR" sz="2400" dirty="0"/>
              <a:t>data.yaml </a:t>
            </a:r>
            <a:r>
              <a:rPr kumimoji="1" lang="ko-KR" altLang="en-US" sz="2400" dirty="0"/>
              <a:t>작성</a:t>
            </a:r>
            <a:endParaRPr kumimoji="1"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556CD6-0B10-136A-3D95-F813540CB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ko-KR"/>
              <a:t>2025. 12. 8.</a:t>
            </a:r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99B589-1FCC-E8E6-CA95-D189529CF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/>
              <a:t>YOLO </a:t>
            </a:r>
            <a:r>
              <a:rPr kumimoji="1" lang="ko-KR" altLang="en-US"/>
              <a:t>커스텀 학습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00CB23-3062-F886-DB6F-9F1EE0A74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23F80-3222-B440-895A-23B9E47480E3}" type="slidenum">
              <a:rPr kumimoji="1" lang="ko-KR" altLang="en-US" smtClean="0"/>
              <a:t>5</a:t>
            </a:fld>
            <a:endParaRPr kumimoji="1"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DF7F23-477A-354A-FD75-8A592550C5FF}"/>
              </a:ext>
            </a:extLst>
          </p:cNvPr>
          <p:cNvSpPr txBox="1"/>
          <p:nvPr/>
        </p:nvSpPr>
        <p:spPr>
          <a:xfrm>
            <a:off x="7315200" y="973926"/>
            <a:ext cx="441434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kumimoji="1" lang="en-US" altLang="ko-KR" sz="1800" dirty="0">
                <a:latin typeface="Dotum" panose="020B0600000101010101" pitchFamily="34" charset="-127"/>
                <a:ea typeface="Dotum" panose="020B0600000101010101" pitchFamily="34" charset="-127"/>
              </a:rPr>
              <a:t>dataset/ </a:t>
            </a:r>
          </a:p>
          <a:p>
            <a:pPr marL="0" indent="0">
              <a:buNone/>
            </a:pPr>
            <a:r>
              <a:rPr kumimoji="1" lang="en-US" altLang="ko-KR" sz="1800" dirty="0">
                <a:latin typeface="Dotum" panose="020B0600000101010101" pitchFamily="34" charset="-127"/>
                <a:ea typeface="Dotum" panose="020B0600000101010101" pitchFamily="34" charset="-127"/>
              </a:rPr>
              <a:t>│ </a:t>
            </a:r>
          </a:p>
          <a:p>
            <a:pPr marL="0" indent="0">
              <a:buNone/>
            </a:pPr>
            <a:r>
              <a:rPr kumimoji="1" lang="en-US" altLang="ko-KR" sz="1800" dirty="0">
                <a:latin typeface="Dotum" panose="020B0600000101010101" pitchFamily="34" charset="-127"/>
                <a:ea typeface="Dotum" panose="020B0600000101010101" pitchFamily="34" charset="-127"/>
              </a:rPr>
              <a:t>├── train/ # </a:t>
            </a:r>
            <a:r>
              <a:rPr kumimoji="1" lang="ko-KR" altLang="en-US" sz="1800" dirty="0">
                <a:latin typeface="Dotum" panose="020B0600000101010101" pitchFamily="34" charset="-127"/>
                <a:ea typeface="Dotum" panose="020B0600000101010101" pitchFamily="34" charset="-127"/>
              </a:rPr>
              <a:t>학습 데이터 폴더 </a:t>
            </a:r>
            <a:endParaRPr kumimoji="1" lang="en-US" altLang="ko-KR" sz="1800" dirty="0">
              <a:latin typeface="Dotum" panose="020B0600000101010101" pitchFamily="34" charset="-127"/>
              <a:ea typeface="Dotum" panose="020B0600000101010101" pitchFamily="34" charset="-127"/>
            </a:endParaRPr>
          </a:p>
          <a:p>
            <a:pPr marL="0" indent="0">
              <a:buNone/>
            </a:pPr>
            <a:r>
              <a:rPr kumimoji="1" lang="ko-KR" altLang="en-US" sz="1800" dirty="0">
                <a:latin typeface="Dotum" panose="020B0600000101010101" pitchFamily="34" charset="-127"/>
                <a:ea typeface="Dotum" panose="020B0600000101010101" pitchFamily="34" charset="-127"/>
              </a:rPr>
              <a:t>│ </a:t>
            </a:r>
            <a:r>
              <a:rPr kumimoji="1" lang="en-US" altLang="ko-KR" sz="1800" dirty="0">
                <a:latin typeface="Dotum" panose="020B0600000101010101" pitchFamily="34" charset="-127"/>
                <a:ea typeface="Dotum" panose="020B0600000101010101" pitchFamily="34" charset="-127"/>
              </a:rPr>
              <a:t>	</a:t>
            </a:r>
            <a:r>
              <a:rPr kumimoji="1" lang="ko-KR" altLang="en-US" sz="1800" dirty="0">
                <a:latin typeface="Dotum" panose="020B0600000101010101" pitchFamily="34" charset="-127"/>
                <a:ea typeface="Dotum" panose="020B0600000101010101" pitchFamily="34" charset="-127"/>
              </a:rPr>
              <a:t>├── </a:t>
            </a:r>
            <a:r>
              <a:rPr kumimoji="1" lang="en-US" altLang="ko-KR" sz="1800" dirty="0">
                <a:latin typeface="Dotum" panose="020B0600000101010101" pitchFamily="34" charset="-127"/>
                <a:ea typeface="Dotum" panose="020B0600000101010101" pitchFamily="34" charset="-127"/>
              </a:rPr>
              <a:t>images/</a:t>
            </a:r>
          </a:p>
          <a:p>
            <a:pPr marL="0" indent="0">
              <a:buNone/>
            </a:pPr>
            <a:r>
              <a:rPr kumimoji="1" lang="en-US" altLang="ko-KR" sz="1800" dirty="0">
                <a:latin typeface="Dotum" panose="020B0600000101010101" pitchFamily="34" charset="-127"/>
                <a:ea typeface="Dotum" panose="020B0600000101010101" pitchFamily="34" charset="-127"/>
              </a:rPr>
              <a:t>│ 	│      ├── image1.jpg </a:t>
            </a:r>
          </a:p>
          <a:p>
            <a:pPr marL="0" indent="0">
              <a:buNone/>
            </a:pPr>
            <a:r>
              <a:rPr kumimoji="1" lang="en-US" altLang="ko-KR" sz="1800" dirty="0">
                <a:latin typeface="Dotum" panose="020B0600000101010101" pitchFamily="34" charset="-127"/>
                <a:ea typeface="Dotum" panose="020B0600000101010101" pitchFamily="34" charset="-127"/>
              </a:rPr>
              <a:t>│ 	│      └── ... </a:t>
            </a:r>
          </a:p>
          <a:p>
            <a:pPr marL="0" indent="0">
              <a:buNone/>
            </a:pPr>
            <a:r>
              <a:rPr kumimoji="1" lang="en-US" altLang="ko-KR" sz="1800" dirty="0">
                <a:latin typeface="Dotum" panose="020B0600000101010101" pitchFamily="34" charset="-127"/>
                <a:ea typeface="Dotum" panose="020B0600000101010101" pitchFamily="34" charset="-127"/>
              </a:rPr>
              <a:t>│ 	│</a:t>
            </a:r>
          </a:p>
          <a:p>
            <a:pPr marL="0" indent="0">
              <a:buNone/>
            </a:pPr>
            <a:r>
              <a:rPr kumimoji="1" lang="en-US" altLang="ko-KR" sz="1800" dirty="0">
                <a:latin typeface="Dotum" panose="020B0600000101010101" pitchFamily="34" charset="-127"/>
                <a:ea typeface="Dotum" panose="020B0600000101010101" pitchFamily="34" charset="-127"/>
              </a:rPr>
              <a:t>│ 	└── labels/</a:t>
            </a:r>
          </a:p>
          <a:p>
            <a:pPr marL="0" indent="0">
              <a:buNone/>
            </a:pPr>
            <a:r>
              <a:rPr kumimoji="1" lang="en-US" altLang="ko-KR" sz="1800" dirty="0">
                <a:latin typeface="Dotum" panose="020B0600000101010101" pitchFamily="34" charset="-127"/>
                <a:ea typeface="Dotum" panose="020B0600000101010101" pitchFamily="34" charset="-127"/>
              </a:rPr>
              <a:t>│ 	         ├── image1.txt</a:t>
            </a:r>
          </a:p>
          <a:p>
            <a:pPr marL="0" indent="0">
              <a:buNone/>
            </a:pPr>
            <a:r>
              <a:rPr kumimoji="1" lang="en-US" altLang="ko-KR" sz="1800" dirty="0">
                <a:latin typeface="Dotum" panose="020B0600000101010101" pitchFamily="34" charset="-127"/>
                <a:ea typeface="Dotum" panose="020B0600000101010101" pitchFamily="34" charset="-127"/>
              </a:rPr>
              <a:t>│ 	         └── ... </a:t>
            </a:r>
          </a:p>
          <a:p>
            <a:pPr marL="0" indent="0">
              <a:buNone/>
            </a:pPr>
            <a:r>
              <a:rPr kumimoji="1" lang="en-US" altLang="ko-KR" sz="1800" dirty="0">
                <a:latin typeface="Dotum" panose="020B0600000101010101" pitchFamily="34" charset="-127"/>
                <a:ea typeface="Dotum" panose="020B0600000101010101" pitchFamily="34" charset="-127"/>
              </a:rPr>
              <a:t>│ </a:t>
            </a:r>
          </a:p>
          <a:p>
            <a:pPr marL="0" indent="0">
              <a:buNone/>
            </a:pPr>
            <a:r>
              <a:rPr kumimoji="1" lang="en-US" altLang="ko-KR" sz="1800" dirty="0">
                <a:latin typeface="Dotum" panose="020B0600000101010101" pitchFamily="34" charset="-127"/>
                <a:ea typeface="Dotum" panose="020B0600000101010101" pitchFamily="34" charset="-127"/>
              </a:rPr>
              <a:t>├── valid/ # </a:t>
            </a:r>
            <a:r>
              <a:rPr kumimoji="1" lang="ko-KR" altLang="en-US" sz="1800" dirty="0">
                <a:latin typeface="Dotum" panose="020B0600000101010101" pitchFamily="34" charset="-127"/>
                <a:ea typeface="Dotum" panose="020B0600000101010101" pitchFamily="34" charset="-127"/>
              </a:rPr>
              <a:t>검증 데이터 폴더 </a:t>
            </a:r>
            <a:endParaRPr kumimoji="1" lang="en-US" altLang="ko-KR" sz="1800" dirty="0">
              <a:latin typeface="Dotum" panose="020B0600000101010101" pitchFamily="34" charset="-127"/>
              <a:ea typeface="Dotum" panose="020B0600000101010101" pitchFamily="34" charset="-127"/>
            </a:endParaRPr>
          </a:p>
          <a:p>
            <a:pPr marL="0" indent="0">
              <a:buNone/>
            </a:pPr>
            <a:r>
              <a:rPr kumimoji="1" lang="ko-KR" altLang="en-US" sz="1800" dirty="0">
                <a:latin typeface="Dotum" panose="020B0600000101010101" pitchFamily="34" charset="-127"/>
                <a:ea typeface="Dotum" panose="020B0600000101010101" pitchFamily="34" charset="-127"/>
              </a:rPr>
              <a:t>│ </a:t>
            </a:r>
            <a:r>
              <a:rPr kumimoji="1" lang="en-US" altLang="ko-KR" sz="1800" dirty="0">
                <a:latin typeface="Dotum" panose="020B0600000101010101" pitchFamily="34" charset="-127"/>
                <a:ea typeface="Dotum" panose="020B0600000101010101" pitchFamily="34" charset="-127"/>
              </a:rPr>
              <a:t>	</a:t>
            </a:r>
            <a:r>
              <a:rPr kumimoji="1" lang="ko-KR" altLang="en-US" sz="1800" dirty="0">
                <a:latin typeface="Dotum" panose="020B0600000101010101" pitchFamily="34" charset="-127"/>
                <a:ea typeface="Dotum" panose="020B0600000101010101" pitchFamily="34" charset="-127"/>
              </a:rPr>
              <a:t>├── </a:t>
            </a:r>
            <a:r>
              <a:rPr kumimoji="1" lang="en-US" altLang="ko-KR" sz="1800" dirty="0">
                <a:latin typeface="Dotum" panose="020B0600000101010101" pitchFamily="34" charset="-127"/>
                <a:ea typeface="Dotum" panose="020B0600000101010101" pitchFamily="34" charset="-127"/>
              </a:rPr>
              <a:t>images/</a:t>
            </a:r>
          </a:p>
          <a:p>
            <a:pPr marL="0" indent="0">
              <a:buNone/>
            </a:pPr>
            <a:r>
              <a:rPr kumimoji="1" lang="en-US" altLang="ko-KR" sz="1800" dirty="0">
                <a:latin typeface="Dotum" panose="020B0600000101010101" pitchFamily="34" charset="-127"/>
                <a:ea typeface="Dotum" panose="020B0600000101010101" pitchFamily="34" charset="-127"/>
              </a:rPr>
              <a:t>│ 	└── labels/</a:t>
            </a:r>
          </a:p>
          <a:p>
            <a:pPr marL="0" indent="0">
              <a:buNone/>
            </a:pPr>
            <a:r>
              <a:rPr kumimoji="1" lang="en-US" altLang="ko-KR" sz="1800" dirty="0">
                <a:latin typeface="Dotum" panose="020B0600000101010101" pitchFamily="34" charset="-127"/>
                <a:ea typeface="Dotum" panose="020B0600000101010101" pitchFamily="34" charset="-127"/>
              </a:rPr>
              <a:t>│ </a:t>
            </a:r>
          </a:p>
          <a:p>
            <a:pPr marL="0" indent="0">
              <a:buNone/>
            </a:pPr>
            <a:r>
              <a:rPr kumimoji="1" lang="en-US" altLang="ko-KR" sz="1800" dirty="0">
                <a:latin typeface="Dotum" panose="020B0600000101010101" pitchFamily="34" charset="-127"/>
                <a:ea typeface="Dotum" panose="020B0600000101010101" pitchFamily="34" charset="-127"/>
              </a:rPr>
              <a:t>└── test/ # </a:t>
            </a:r>
            <a:r>
              <a:rPr kumimoji="1" lang="ko-KR" altLang="en-US" sz="1800" dirty="0">
                <a:latin typeface="Dotum" panose="020B0600000101010101" pitchFamily="34" charset="-127"/>
                <a:ea typeface="Dotum" panose="020B0600000101010101" pitchFamily="34" charset="-127"/>
              </a:rPr>
              <a:t>테스트 데이터 폴더</a:t>
            </a:r>
          </a:p>
          <a:p>
            <a:pPr marL="0" indent="0">
              <a:buNone/>
            </a:pPr>
            <a:r>
              <a:rPr kumimoji="1" lang="en-US" altLang="ko-KR" sz="1800" dirty="0">
                <a:latin typeface="Dotum" panose="020B0600000101010101" pitchFamily="34" charset="-127"/>
                <a:ea typeface="Dotum" panose="020B0600000101010101" pitchFamily="34" charset="-127"/>
              </a:rPr>
              <a:t>	</a:t>
            </a:r>
            <a:r>
              <a:rPr kumimoji="1" lang="ko-KR" altLang="en-US" sz="1800" dirty="0">
                <a:latin typeface="Dotum" panose="020B0600000101010101" pitchFamily="34" charset="-127"/>
                <a:ea typeface="Dotum" panose="020B0600000101010101" pitchFamily="34" charset="-127"/>
              </a:rPr>
              <a:t>├── </a:t>
            </a:r>
            <a:r>
              <a:rPr kumimoji="1" lang="en-US" altLang="ko-KR" sz="1800" dirty="0">
                <a:latin typeface="Dotum" panose="020B0600000101010101" pitchFamily="34" charset="-127"/>
                <a:ea typeface="Dotum" panose="020B0600000101010101" pitchFamily="34" charset="-127"/>
              </a:rPr>
              <a:t>images/	 </a:t>
            </a:r>
          </a:p>
          <a:p>
            <a:pPr marL="0" indent="0">
              <a:buNone/>
            </a:pPr>
            <a:r>
              <a:rPr kumimoji="1" lang="en-US" altLang="ko-KR" sz="1800" dirty="0">
                <a:latin typeface="Dotum" panose="020B0600000101010101" pitchFamily="34" charset="-127"/>
                <a:ea typeface="Dotum" panose="020B0600000101010101" pitchFamily="34" charset="-127"/>
              </a:rPr>
              <a:t>	└── label/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CF0D8489-E447-BBDD-6DD4-B8D8255083EC}"/>
              </a:ext>
            </a:extLst>
          </p:cNvPr>
          <p:cNvSpPr/>
          <p:nvPr/>
        </p:nvSpPr>
        <p:spPr>
          <a:xfrm>
            <a:off x="1067775" y="3643292"/>
            <a:ext cx="5941649" cy="240894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0" tIns="46800" rIns="360000" bIns="46800" rtlCol="0" anchor="ctr"/>
          <a:lstStyle/>
          <a:p>
            <a:r>
              <a:rPr lang="en-US" altLang="ko-KR" dirty="0">
                <a:solidFill>
                  <a:schemeClr val="tx2">
                    <a:lumMod val="25000"/>
                    <a:lumOff val="75000"/>
                  </a:schemeClr>
                </a:solidFill>
                <a:latin typeface="Courier" pitchFamily="2" charset="0"/>
              </a:rPr>
              <a:t>train</a:t>
            </a:r>
            <a:r>
              <a:rPr lang="en-US" altLang="ko-KR" dirty="0">
                <a:latin typeface="Courier" pitchFamily="2" charset="0"/>
              </a:rPr>
              <a:t>: ../train/images </a:t>
            </a:r>
            <a:r>
              <a:rPr lang="en-US" altLang="ko-K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# </a:t>
            </a:r>
            <a:r>
              <a:rPr lang="ko-KR" alt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학습 이미지 경로</a:t>
            </a:r>
            <a:endParaRPr lang="en-US" altLang="ko-KR" dirty="0">
              <a:solidFill>
                <a:schemeClr val="accent2">
                  <a:lumMod val="60000"/>
                  <a:lumOff val="4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en-US" altLang="ko-KR" dirty="0">
                <a:solidFill>
                  <a:schemeClr val="tx2">
                    <a:lumMod val="25000"/>
                    <a:lumOff val="75000"/>
                  </a:schemeClr>
                </a:solidFill>
                <a:latin typeface="Courier" pitchFamily="2" charset="0"/>
              </a:rPr>
              <a:t>val</a:t>
            </a:r>
            <a:r>
              <a:rPr lang="en-US" altLang="ko-KR" dirty="0">
                <a:latin typeface="Courier" pitchFamily="2" charset="0"/>
              </a:rPr>
              <a:t>: ../valid/images   </a:t>
            </a:r>
            <a:r>
              <a:rPr lang="en-US" altLang="ko-K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# </a:t>
            </a:r>
            <a:r>
              <a:rPr lang="ko-KR" alt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검증 이미지 경로</a:t>
            </a:r>
            <a:endParaRPr lang="en-US" altLang="ko-KR" sz="1600" dirty="0">
              <a:solidFill>
                <a:schemeClr val="accent2">
                  <a:lumMod val="60000"/>
                  <a:lumOff val="4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en-US" altLang="ko-KR" dirty="0">
                <a:solidFill>
                  <a:schemeClr val="tx2">
                    <a:lumMod val="25000"/>
                    <a:lumOff val="75000"/>
                  </a:schemeClr>
                </a:solidFill>
                <a:latin typeface="Courier" pitchFamily="2" charset="0"/>
                <a:ea typeface="NanumGothic" panose="020D0604000000000000" pitchFamily="34" charset="-127"/>
              </a:rPr>
              <a:t>test</a:t>
            </a:r>
            <a:r>
              <a:rPr lang="en-US" altLang="ko-KR" dirty="0">
                <a:latin typeface="Courier" pitchFamily="2" charset="0"/>
                <a:ea typeface="NanumGothic" panose="020D0604000000000000" pitchFamily="34" charset="-127"/>
              </a:rPr>
              <a:t>: ../test/images   </a:t>
            </a:r>
            <a:r>
              <a:rPr lang="en-US" altLang="ko-K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#</a:t>
            </a:r>
            <a:r>
              <a:rPr lang="ko-KR" alt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테스트 이미지 경로</a:t>
            </a:r>
            <a:endParaRPr lang="en-US" altLang="ko-KR" sz="1600" dirty="0">
              <a:solidFill>
                <a:schemeClr val="accent2">
                  <a:lumMod val="60000"/>
                  <a:lumOff val="40000"/>
                </a:schemeClr>
              </a:solidFill>
              <a:latin typeface="Courier" pitchFamily="2" charset="0"/>
              <a:ea typeface="NanumGothic" panose="020D0604000000000000" pitchFamily="34" charset="-127"/>
            </a:endParaRPr>
          </a:p>
          <a:p>
            <a:endParaRPr lang="en-US" altLang="ko-KR" dirty="0">
              <a:latin typeface="Courier" pitchFamily="2" charset="0"/>
              <a:ea typeface="NanumGothic" panose="020D0604000000000000" pitchFamily="34" charset="-127"/>
            </a:endParaRPr>
          </a:p>
          <a:p>
            <a:r>
              <a:rPr lang="en-US" altLang="ko-KR" dirty="0" err="1">
                <a:solidFill>
                  <a:schemeClr val="tx2">
                    <a:lumMod val="25000"/>
                    <a:lumOff val="75000"/>
                  </a:schemeClr>
                </a:solidFill>
                <a:latin typeface="Courier" pitchFamily="2" charset="0"/>
              </a:rPr>
              <a:t>nc</a:t>
            </a:r>
            <a:r>
              <a:rPr lang="en-US" altLang="ko-KR" dirty="0">
                <a:latin typeface="Courier" pitchFamily="2" charset="0"/>
              </a:rPr>
              <a:t>: </a:t>
            </a:r>
            <a:r>
              <a:rPr lang="en-US" altLang="ko-KR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" pitchFamily="2" charset="0"/>
              </a:rPr>
              <a:t>1</a:t>
            </a:r>
            <a:r>
              <a:rPr lang="en-US" altLang="ko-KR" dirty="0">
                <a:latin typeface="Courier" pitchFamily="2" charset="0"/>
              </a:rPr>
              <a:t> 			</a:t>
            </a:r>
            <a:r>
              <a:rPr lang="ko-KR" altLang="en-US" dirty="0">
                <a:latin typeface="Courier" pitchFamily="2" charset="0"/>
              </a:rPr>
              <a:t>   </a:t>
            </a:r>
            <a:r>
              <a:rPr lang="en-US" altLang="ko-K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# class </a:t>
            </a:r>
            <a:r>
              <a:rPr lang="ko-KR" alt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개수</a:t>
            </a:r>
            <a:endParaRPr lang="en-US" altLang="ko-KR" dirty="0">
              <a:solidFill>
                <a:schemeClr val="accent2">
                  <a:lumMod val="60000"/>
                  <a:lumOff val="4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en-US" altLang="ko-KR" dirty="0">
                <a:solidFill>
                  <a:schemeClr val="tx2">
                    <a:lumMod val="25000"/>
                    <a:lumOff val="75000"/>
                  </a:schemeClr>
                </a:solidFill>
                <a:latin typeface="Courier" pitchFamily="2" charset="0"/>
              </a:rPr>
              <a:t>names</a:t>
            </a:r>
            <a:r>
              <a:rPr lang="en-US" altLang="ko-KR" dirty="0">
                <a:latin typeface="Courier" pitchFamily="2" charset="0"/>
              </a:rPr>
              <a:t>: [</a:t>
            </a:r>
            <a:r>
              <a:rPr lang="en-US" altLang="ko-KR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" pitchFamily="2" charset="0"/>
              </a:rPr>
              <a:t>'led’</a:t>
            </a:r>
            <a:r>
              <a:rPr lang="en-US" altLang="ko-KR" dirty="0">
                <a:latin typeface="Courier" pitchFamily="2" charset="0"/>
              </a:rPr>
              <a:t>] 	</a:t>
            </a:r>
            <a:r>
              <a:rPr lang="ko-KR" altLang="en-US" dirty="0">
                <a:latin typeface="Courier" pitchFamily="2" charset="0"/>
              </a:rPr>
              <a:t>   </a:t>
            </a:r>
            <a:r>
              <a:rPr lang="en-US" altLang="ko-K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# class </a:t>
            </a:r>
            <a:r>
              <a:rPr lang="ko-KR" alt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이름</a:t>
            </a:r>
            <a:r>
              <a:rPr lang="en-US" altLang="ko-K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c</a:t>
            </a:r>
            <a:endParaRPr lang="ko-KR" altLang="en-US" dirty="0">
              <a:solidFill>
                <a:schemeClr val="accent2">
                  <a:lumMod val="60000"/>
                  <a:lumOff val="4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2373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E649CF-49A2-4D56-3F69-911C82AFE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YOLOv11 </a:t>
            </a:r>
            <a:r>
              <a:rPr kumimoji="1" lang="ko-KR" altLang="en-US" dirty="0"/>
              <a:t>학습 및 예측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6574F9-E57F-A582-AC34-E51CD7396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66"/>
            <a:ext cx="10515600" cy="4931180"/>
          </a:xfrm>
        </p:spPr>
        <p:txBody>
          <a:bodyPr>
            <a:noAutofit/>
          </a:bodyPr>
          <a:lstStyle/>
          <a:p>
            <a:r>
              <a:rPr kumimoji="1" lang="en-US" altLang="ko-KR" dirty="0" err="1"/>
              <a:t>gpu</a:t>
            </a:r>
            <a:r>
              <a:rPr kumimoji="1" lang="ko-KR" altLang="en-US" dirty="0"/>
              <a:t> 사용을 위해 </a:t>
            </a:r>
            <a:r>
              <a:rPr kumimoji="1" lang="en-US" altLang="ko-KR" dirty="0" err="1"/>
              <a:t>Colab</a:t>
            </a:r>
            <a:r>
              <a:rPr kumimoji="1" lang="en-US" altLang="ko-KR" dirty="0"/>
              <a:t> </a:t>
            </a:r>
            <a:r>
              <a:rPr kumimoji="1" lang="ko-KR" altLang="en-US" dirty="0"/>
              <a:t>환경에서 진행</a:t>
            </a:r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학습된 모델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en-US" altLang="ko-KR" dirty="0"/>
              <a:t>dataset/runs/</a:t>
            </a:r>
            <a:r>
              <a:rPr lang="en-US" altLang="ko-KR" dirty="0" err="1"/>
              <a:t>obb</a:t>
            </a:r>
            <a:r>
              <a:rPr lang="en-US" altLang="ko-KR" dirty="0"/>
              <a:t>/train/weights</a:t>
            </a:r>
            <a:r>
              <a:rPr lang="ko-KR" altLang="en-US" dirty="0"/>
              <a:t> </a:t>
            </a:r>
            <a:r>
              <a:rPr lang="en-US" altLang="ko-KR" dirty="0"/>
              <a:t>(best.py, last.py)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테스트 결과 이미지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en-US" altLang="ko-KR" dirty="0"/>
              <a:t>dataset/runs/</a:t>
            </a:r>
            <a:r>
              <a:rPr lang="en-US" altLang="ko-KR" dirty="0" err="1"/>
              <a:t>obb</a:t>
            </a:r>
            <a:r>
              <a:rPr lang="en-US" altLang="ko-KR" dirty="0"/>
              <a:t>/predict</a:t>
            </a:r>
            <a:endParaRPr kumimoji="1"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EA009C-61B6-0E86-80A8-B4D3B12B7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ko-KR"/>
              <a:t>2025. 12. 8.</a:t>
            </a:r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3FA206-C347-A5A7-D449-5E1E266FF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/>
              <a:t>YOLO </a:t>
            </a:r>
            <a:r>
              <a:rPr kumimoji="1" lang="ko-KR" altLang="en-US"/>
              <a:t>커스텀 학습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7C65CB-F0F6-F1A2-E521-4F8841990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23F80-3222-B440-895A-23B9E47480E3}" type="slidenum">
              <a:rPr kumimoji="1" lang="ko-KR" altLang="en-US" smtClean="0"/>
              <a:t>6</a:t>
            </a:fld>
            <a:endParaRPr kumimoji="1"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E703AAF1-092D-FCE6-BDD9-0E4EA860BB7E}"/>
              </a:ext>
            </a:extLst>
          </p:cNvPr>
          <p:cNvSpPr/>
          <p:nvPr/>
        </p:nvSpPr>
        <p:spPr>
          <a:xfrm>
            <a:off x="1121302" y="1784681"/>
            <a:ext cx="9851498" cy="302905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360000" tIns="46800" rIns="360000" bIns="46800" rtlCol="0" anchor="ctr"/>
          <a:lstStyle/>
          <a:p>
            <a:r>
              <a:rPr lang="en-US" altLang="ko-KR" b="0" dirty="0">
                <a:solidFill>
                  <a:srgbClr val="82C6FF"/>
                </a:solidFill>
                <a:effectLst/>
                <a:latin typeface="Courier" pitchFamily="2" charset="0"/>
              </a:rPr>
              <a:t>!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urier" pitchFamily="2" charset="0"/>
              </a:rPr>
              <a:t>pip install ultralytics</a:t>
            </a:r>
          </a:p>
          <a:p>
            <a:r>
              <a:rPr lang="en-US" altLang="ko-KR" b="0" dirty="0">
                <a:solidFill>
                  <a:srgbClr val="C99CC6"/>
                </a:solidFill>
                <a:effectLst/>
                <a:latin typeface="Courier" pitchFamily="2" charset="0"/>
              </a:rPr>
              <a:t>import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urier" pitchFamily="2" charset="0"/>
              </a:rPr>
              <a:t> ultralytics</a:t>
            </a:r>
            <a:endParaRPr lang="ko-KR" altLang="en-US" dirty="0">
              <a:solidFill>
                <a:schemeClr val="bg1"/>
              </a:solidFill>
              <a:latin typeface="Courier" pitchFamily="2" charset="0"/>
            </a:endParaRPr>
          </a:p>
          <a:p>
            <a:r>
              <a:rPr lang="en-US" altLang="ko-KR" b="0" dirty="0">
                <a:solidFill>
                  <a:srgbClr val="C99CC6"/>
                </a:solidFill>
                <a:effectLst/>
                <a:latin typeface="Courier" pitchFamily="2" charset="0"/>
              </a:rPr>
              <a:t>from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urier" pitchFamily="2" charset="0"/>
              </a:rPr>
              <a:t> ultralytics </a:t>
            </a:r>
            <a:r>
              <a:rPr lang="en-US" altLang="ko-KR" b="0" dirty="0">
                <a:solidFill>
                  <a:srgbClr val="C99CC6"/>
                </a:solidFill>
                <a:effectLst/>
                <a:latin typeface="Courier" pitchFamily="2" charset="0"/>
              </a:rPr>
              <a:t>import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urier" pitchFamily="2" charset="0"/>
              </a:rPr>
              <a:t> YOLO</a:t>
            </a:r>
          </a:p>
          <a:p>
            <a:endParaRPr lang="en-US" altLang="ko-KR" dirty="0">
              <a:solidFill>
                <a:srgbClr val="D4D4D4"/>
              </a:solidFill>
              <a:latin typeface="Courier" pitchFamily="2" charset="0"/>
            </a:endParaRP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urier" pitchFamily="2" charset="0"/>
              </a:rPr>
              <a:t>model = YOLO</a:t>
            </a:r>
            <a:r>
              <a:rPr lang="en-US" altLang="ko-KR" b="0" dirty="0">
                <a:solidFill>
                  <a:srgbClr val="DCDCDC"/>
                </a:solidFill>
                <a:effectLst/>
                <a:latin typeface="Courier" pitchFamily="2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urier" pitchFamily="2" charset="0"/>
              </a:rPr>
              <a:t>'yolo11n-obb.pt’</a:t>
            </a:r>
            <a:r>
              <a:rPr lang="en-US" altLang="ko-KR" b="0" dirty="0">
                <a:solidFill>
                  <a:srgbClr val="DCDCDC"/>
                </a:solidFill>
                <a:effectLst/>
                <a:latin typeface="Courier" pitchFamily="2" charset="0"/>
              </a:rPr>
              <a:t>)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urier" pitchFamily="2" charset="0"/>
              </a:rPr>
              <a:t> 	</a:t>
            </a:r>
            <a:r>
              <a:rPr lang="en-US" altLang="ko-KR" sz="1600" dirty="0">
                <a:solidFill>
                  <a:srgbClr val="82B76C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# </a:t>
            </a:r>
            <a:r>
              <a:rPr lang="ko-KR" altLang="en-US" sz="1600" dirty="0">
                <a:solidFill>
                  <a:srgbClr val="82B76C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사전 학습된 모델 로드</a:t>
            </a:r>
            <a:endParaRPr lang="en-US" altLang="ko-KR" dirty="0">
              <a:solidFill>
                <a:srgbClr val="D4D4D4"/>
              </a:solidFill>
              <a:effectLst/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urier" pitchFamily="2" charset="0"/>
              </a:rPr>
              <a:t>model.train</a:t>
            </a:r>
            <a:r>
              <a:rPr lang="en-US" altLang="ko-KR" b="0" dirty="0">
                <a:solidFill>
                  <a:srgbClr val="DCDCDC"/>
                </a:solidFill>
                <a:effectLst/>
                <a:latin typeface="Courier" pitchFamily="2" charset="0"/>
              </a:rPr>
              <a:t>(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urier" pitchFamily="2" charset="0"/>
              </a:rPr>
              <a:t>data=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urier" pitchFamily="2" charset="0"/>
              </a:rPr>
              <a:t>'/content/dataset/data.yaml'</a:t>
            </a:r>
            <a:r>
              <a:rPr lang="en-US" altLang="ko-KR" b="0" dirty="0">
                <a:solidFill>
                  <a:srgbClr val="DCDCDC"/>
                </a:solidFill>
                <a:effectLst/>
                <a:latin typeface="Courier" pitchFamily="2" charset="0"/>
              </a:rPr>
              <a:t>,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urier" pitchFamily="2" charset="0"/>
              </a:rPr>
              <a:t> epochs=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urier" pitchFamily="2" charset="0"/>
              </a:rPr>
              <a:t>500</a:t>
            </a:r>
            <a:r>
              <a:rPr lang="en-US" altLang="ko-KR" b="0" dirty="0">
                <a:solidFill>
                  <a:srgbClr val="DCDCDC"/>
                </a:solidFill>
                <a:effectLst/>
                <a:latin typeface="Courier" pitchFamily="2" charset="0"/>
              </a:rPr>
              <a:t>,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urier" pitchFamily="2" charset="0"/>
              </a:rPr>
              <a:t> patience=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urier" pitchFamily="2" charset="0"/>
              </a:rPr>
              <a:t>5</a:t>
            </a:r>
            <a:r>
              <a:rPr lang="en-US" altLang="ko-KR" b="0" dirty="0">
                <a:solidFill>
                  <a:srgbClr val="DCDCDC"/>
                </a:solidFill>
                <a:effectLst/>
                <a:latin typeface="Courier" pitchFamily="2" charset="0"/>
              </a:rPr>
              <a:t>,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urier" pitchFamily="2" charset="0"/>
              </a:rPr>
              <a:t> imgsz=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urier" pitchFamily="2" charset="0"/>
              </a:rPr>
              <a:t>640</a:t>
            </a:r>
            <a:r>
              <a:rPr lang="en-US" altLang="ko-KR" b="0" dirty="0">
                <a:solidFill>
                  <a:srgbClr val="DCDCDC"/>
                </a:solidFill>
                <a:effectLst/>
                <a:latin typeface="Courier" pitchFamily="2" charset="0"/>
              </a:rPr>
              <a:t>)		</a:t>
            </a:r>
            <a:r>
              <a:rPr lang="en-US" altLang="ko-KR" sz="1600" dirty="0">
                <a:solidFill>
                  <a:srgbClr val="82B76C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# </a:t>
            </a:r>
            <a:r>
              <a:rPr lang="ko-KR" altLang="en-US" sz="1600" dirty="0">
                <a:solidFill>
                  <a:srgbClr val="82B76C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데이터에 따라 파라미터 조정</a:t>
            </a:r>
            <a:endParaRPr lang="en-US" altLang="ko-KR" b="0" dirty="0">
              <a:solidFill>
                <a:srgbClr val="D4D4D4"/>
              </a:solidFill>
              <a:effectLst/>
              <a:latin typeface="Courier" pitchFamily="2" charset="0"/>
            </a:endParaRPr>
          </a:p>
          <a:p>
            <a:endParaRPr lang="en-US" altLang="ko-KR" b="1" dirty="0">
              <a:solidFill>
                <a:srgbClr val="D4D4D4"/>
              </a:solidFill>
              <a:effectLst/>
              <a:latin typeface="Courier" pitchFamily="2" charset="0"/>
            </a:endParaRP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urier" pitchFamily="2" charset="0"/>
              </a:rPr>
              <a:t>results=model</a:t>
            </a:r>
            <a:r>
              <a:rPr lang="en-US" altLang="ko-KR" b="0" dirty="0">
                <a:solidFill>
                  <a:srgbClr val="DCDCDC"/>
                </a:solidFill>
                <a:effectLst/>
                <a:latin typeface="Courier" pitchFamily="2" charset="0"/>
              </a:rPr>
              <a:t>(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urier" pitchFamily="2" charset="0"/>
              </a:rPr>
              <a:t>source=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urier" pitchFamily="2" charset="0"/>
              </a:rPr>
              <a:t>'/content/dataset/test/images'</a:t>
            </a:r>
            <a:r>
              <a:rPr lang="en-US" altLang="ko-KR" b="0" dirty="0">
                <a:solidFill>
                  <a:srgbClr val="DCDCDC"/>
                </a:solidFill>
                <a:effectLst/>
                <a:latin typeface="Courier" pitchFamily="2" charset="0"/>
              </a:rPr>
              <a:t>,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urier" pitchFamily="2" charset="0"/>
              </a:rPr>
              <a:t> save=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urier" pitchFamily="2" charset="0"/>
              </a:rPr>
              <a:t>True</a:t>
            </a:r>
            <a:r>
              <a:rPr lang="en-US" altLang="ko-KR" b="0" dirty="0">
                <a:solidFill>
                  <a:srgbClr val="DCDCDC"/>
                </a:solidFill>
                <a:effectLst/>
                <a:latin typeface="Courier" pitchFamily="2" charset="0"/>
              </a:rPr>
              <a:t>)</a:t>
            </a:r>
            <a:endParaRPr lang="en-US" altLang="ko-KR" b="0" dirty="0">
              <a:solidFill>
                <a:srgbClr val="D4D4D4"/>
              </a:solidFill>
              <a:effectLst/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238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DB321D-8BF8-308E-CCCE-F5437E63ED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/>
              <a:t>끝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7641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451</Words>
  <Application>Microsoft Macintosh PowerPoint</Application>
  <PresentationFormat>와이드스크린</PresentationFormat>
  <Paragraphs>91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NanumGothic</vt:lpstr>
      <vt:lpstr>Dotum</vt:lpstr>
      <vt:lpstr>맑은 고딕</vt:lpstr>
      <vt:lpstr>Arial</vt:lpstr>
      <vt:lpstr>Courier</vt:lpstr>
      <vt:lpstr>Wingdings</vt:lpstr>
      <vt:lpstr>Office 테마</vt:lpstr>
      <vt:lpstr>YOLOv11 커스텀 데이터 학습</vt:lpstr>
      <vt:lpstr>Data Labeling</vt:lpstr>
      <vt:lpstr>Data Labeling</vt:lpstr>
      <vt:lpstr>Dataset 준비</vt:lpstr>
      <vt:lpstr>Dataset 준비</vt:lpstr>
      <vt:lpstr>YOLOv11 학습 및 예측</vt:lpstr>
      <vt:lpstr>끝.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우연서</dc:creator>
  <cp:lastModifiedBy>우연서</cp:lastModifiedBy>
  <cp:revision>1</cp:revision>
  <dcterms:created xsi:type="dcterms:W3CDTF">2025-12-08T00:46:46Z</dcterms:created>
  <dcterms:modified xsi:type="dcterms:W3CDTF">2025-12-08T05:36:51Z</dcterms:modified>
</cp:coreProperties>
</file>